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1" r:id="rId2"/>
    <p:sldId id="263" r:id="rId3"/>
    <p:sldId id="257" r:id="rId4"/>
    <p:sldId id="256" r:id="rId5"/>
    <p:sldId id="258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5454"/>
    <a:srgbClr val="242424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722" autoAdjust="0"/>
    <p:restoredTop sz="94660"/>
  </p:normalViewPr>
  <p:slideViewPr>
    <p:cSldViewPr>
      <p:cViewPr varScale="1">
        <p:scale>
          <a:sx n="80" d="100"/>
          <a:sy n="80" d="100"/>
        </p:scale>
        <p:origin x="-1116" y="-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862BB-9E38-418A-A099-98A2C87D077D}" type="datetimeFigureOut">
              <a:rPr lang="en-US" smtClean="0"/>
              <a:pPr/>
              <a:t>8/11/2013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AE8F4A-D056-4B80-8175-82CC34D65EE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6B9F1-E83B-4929-BBEF-0A7782059675}" type="datetimeFigureOut">
              <a:rPr lang="en-US" smtClean="0"/>
              <a:pPr/>
              <a:t>8/11/2013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49F5-50B2-4638-9F5E-459F815B0D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6B9F1-E83B-4929-BBEF-0A7782059675}" type="datetimeFigureOut">
              <a:rPr lang="en-US" smtClean="0"/>
              <a:pPr/>
              <a:t>8/11/2013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49F5-50B2-4638-9F5E-459F815B0D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6B9F1-E83B-4929-BBEF-0A7782059675}" type="datetimeFigureOut">
              <a:rPr lang="en-US" smtClean="0"/>
              <a:pPr/>
              <a:t>8/11/2013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49F5-50B2-4638-9F5E-459F815B0D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6B9F1-E83B-4929-BBEF-0A7782059675}" type="datetimeFigureOut">
              <a:rPr lang="en-US" smtClean="0"/>
              <a:pPr/>
              <a:t>8/11/2013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49F5-50B2-4638-9F5E-459F815B0D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6B9F1-E83B-4929-BBEF-0A7782059675}" type="datetimeFigureOut">
              <a:rPr lang="en-US" smtClean="0"/>
              <a:pPr/>
              <a:t>8/11/2013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49F5-50B2-4638-9F5E-459F815B0D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6B9F1-E83B-4929-BBEF-0A7782059675}" type="datetimeFigureOut">
              <a:rPr lang="en-US" smtClean="0"/>
              <a:pPr/>
              <a:t>8/11/2013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49F5-50B2-4638-9F5E-459F815B0D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6B9F1-E83B-4929-BBEF-0A7782059675}" type="datetimeFigureOut">
              <a:rPr lang="en-US" smtClean="0"/>
              <a:pPr/>
              <a:t>8/11/2013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49F5-50B2-4638-9F5E-459F815B0D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6B9F1-E83B-4929-BBEF-0A7782059675}" type="datetimeFigureOut">
              <a:rPr lang="en-US" smtClean="0"/>
              <a:pPr/>
              <a:t>8/11/2013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49F5-50B2-4638-9F5E-459F815B0D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6B9F1-E83B-4929-BBEF-0A7782059675}" type="datetimeFigureOut">
              <a:rPr lang="en-US" smtClean="0"/>
              <a:pPr/>
              <a:t>8/11/2013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49F5-50B2-4638-9F5E-459F815B0D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6B9F1-E83B-4929-BBEF-0A7782059675}" type="datetimeFigureOut">
              <a:rPr lang="en-US" smtClean="0"/>
              <a:pPr/>
              <a:t>8/11/2013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49F5-50B2-4638-9F5E-459F815B0D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6B9F1-E83B-4929-BBEF-0A7782059675}" type="datetimeFigureOut">
              <a:rPr lang="en-US" smtClean="0"/>
              <a:pPr/>
              <a:t>8/11/2013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49F5-50B2-4638-9F5E-459F815B0D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6B9F1-E83B-4929-BBEF-0A7782059675}" type="datetimeFigureOut">
              <a:rPr lang="en-US" smtClean="0"/>
              <a:pPr/>
              <a:t>8/11/2013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649F5-50B2-4638-9F5E-459F815B0D4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7000" r="-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81200" y="-1371600"/>
            <a:ext cx="4876800" cy="92486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762000" h="762000"/>
            </a:sp3d>
          </a:bodyPr>
          <a:lstStyle/>
          <a:p>
            <a:pPr algn="ctr"/>
            <a:r>
              <a:rPr lang="en-US" sz="59500" dirty="0" smtClean="0">
                <a:solidFill>
                  <a:srgbClr val="FF0000"/>
                </a:solidFill>
                <a:latin typeface="Old English Text MT" pitchFamily="66" charset="0"/>
              </a:rPr>
              <a:t>2</a:t>
            </a:r>
            <a:endParaRPr lang="en-US" dirty="0">
              <a:solidFill>
                <a:srgbClr val="FF0000"/>
              </a:solidFill>
              <a:latin typeface="Old English Text MT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762000" y="2438400"/>
            <a:ext cx="10744200" cy="2400657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  <a:sp3d extrusionH="57150" prstMaterial="plastic">
              <a:bevelT w="762000" h="762000" prst="coolSlant"/>
            </a:sp3d>
          </a:bodyPr>
          <a:lstStyle/>
          <a:p>
            <a:pPr algn="ctr"/>
            <a:r>
              <a:rPr lang="en-US" sz="15000" b="1" dirty="0" smtClean="0">
                <a:solidFill>
                  <a:schemeClr val="bg1"/>
                </a:solidFill>
                <a:latin typeface="Old English Text MT" pitchFamily="66" charset="0"/>
              </a:rPr>
              <a:t>World War</a:t>
            </a:r>
            <a:endParaRPr lang="en-US" sz="15000" b="1" dirty="0">
              <a:solidFill>
                <a:schemeClr val="bg1"/>
              </a:solidFill>
              <a:latin typeface="Old English Text MT" pitchFamily="66" charset="0"/>
            </a:endParaRPr>
          </a:p>
        </p:txBody>
      </p:sp>
    </p:spTree>
  </p:cSld>
  <p:clrMapOvr>
    <a:masterClrMapping/>
  </p:clrMapOvr>
  <p:transition>
    <p:dissolve/>
    <p:sndAc>
      <p:stSnd>
        <p:snd r:embed="rId2" name="explode.wav" builtIn="1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7000" r="-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extBox 1"/>
          <p:cNvSpPr txBox="1"/>
          <p:nvPr/>
        </p:nvSpPr>
        <p:spPr>
          <a:xfrm>
            <a:off x="2209800" y="838200"/>
            <a:ext cx="5105400" cy="212365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90500" prst="coolSlant"/>
          </a:sp3d>
        </p:spPr>
        <p:txBody>
          <a:bodyPr wrap="square" rtlCol="0">
            <a:spAutoFit/>
            <a:sp3d>
              <a:bevelT w="762000" h="762000"/>
            </a:sp3d>
          </a:bodyPr>
          <a:lstStyle/>
          <a:p>
            <a:pPr algn="ctr"/>
            <a:r>
              <a:rPr lang="en-US" sz="6600" b="1" dirty="0" smtClean="0">
                <a:solidFill>
                  <a:schemeClr val="bg1"/>
                </a:solidFill>
                <a:latin typeface="Copperplate Gothic Bold" pitchFamily="34" charset="0"/>
              </a:rPr>
              <a:t>MADE BY DINC</a:t>
            </a:r>
            <a:endParaRPr lang="en-US" sz="6600" b="1" dirty="0">
              <a:solidFill>
                <a:schemeClr val="bg1"/>
              </a:solidFill>
              <a:latin typeface="Copperplate Gothic Bold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00400" y="3124200"/>
            <a:ext cx="3124200" cy="34163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762000" h="762000"/>
            </a:sp3d>
          </a:bodyPr>
          <a:lstStyle/>
          <a:p>
            <a:r>
              <a:rPr lang="en-US" sz="5400" dirty="0" smtClean="0">
                <a:solidFill>
                  <a:srgbClr val="FFFF00"/>
                </a:solidFill>
                <a:latin typeface="Copperplate Gothic Bold" pitchFamily="34" charset="0"/>
              </a:rPr>
              <a:t>D</a:t>
            </a:r>
            <a:r>
              <a:rPr lang="en-US" sz="4000" dirty="0" smtClean="0">
                <a:solidFill>
                  <a:srgbClr val="FF0000"/>
                </a:solidFill>
                <a:latin typeface="Copperplate Gothic Bold" pitchFamily="34" charset="0"/>
              </a:rPr>
              <a:t>aksh</a:t>
            </a:r>
          </a:p>
          <a:p>
            <a:r>
              <a:rPr lang="en-US" sz="5400" dirty="0" err="1" smtClean="0">
                <a:solidFill>
                  <a:srgbClr val="FFFF00"/>
                </a:solidFill>
                <a:latin typeface="Copperplate Gothic Bold" pitchFamily="34" charset="0"/>
              </a:rPr>
              <a:t>I</a:t>
            </a:r>
            <a:r>
              <a:rPr lang="en-US" sz="4000" dirty="0" err="1" smtClean="0">
                <a:solidFill>
                  <a:srgbClr val="FF0000"/>
                </a:solidFill>
                <a:latin typeface="Copperplate Gothic Bold" pitchFamily="34" charset="0"/>
              </a:rPr>
              <a:t>shaan</a:t>
            </a:r>
            <a:endParaRPr lang="en-US" sz="4000" dirty="0" smtClean="0">
              <a:solidFill>
                <a:srgbClr val="FF0000"/>
              </a:solidFill>
              <a:latin typeface="Copperplate Gothic Bold" pitchFamily="34" charset="0"/>
            </a:endParaRPr>
          </a:p>
          <a:p>
            <a:r>
              <a:rPr lang="en-US" sz="5400" dirty="0" err="1" smtClean="0">
                <a:solidFill>
                  <a:srgbClr val="FFFF00"/>
                </a:solidFill>
                <a:latin typeface="Copperplate Gothic Bold" pitchFamily="34" charset="0"/>
              </a:rPr>
              <a:t>N</a:t>
            </a:r>
            <a:r>
              <a:rPr lang="en-US" sz="3600" dirty="0" err="1" smtClean="0">
                <a:solidFill>
                  <a:srgbClr val="FF0000"/>
                </a:solidFill>
                <a:latin typeface="Copperplate Gothic Bold" pitchFamily="34" charset="0"/>
              </a:rPr>
              <a:t>imit</a:t>
            </a:r>
            <a:endParaRPr lang="en-US" sz="3600" dirty="0" smtClean="0">
              <a:solidFill>
                <a:srgbClr val="FF0000"/>
              </a:solidFill>
              <a:latin typeface="Copperplate Gothic Bold" pitchFamily="34" charset="0"/>
            </a:endParaRPr>
          </a:p>
          <a:p>
            <a:r>
              <a:rPr lang="en-US" sz="5400" dirty="0" err="1" smtClean="0">
                <a:solidFill>
                  <a:srgbClr val="FFFF00"/>
                </a:solidFill>
                <a:latin typeface="Copperplate Gothic Bold" pitchFamily="34" charset="0"/>
              </a:rPr>
              <a:t>C</a:t>
            </a:r>
            <a:r>
              <a:rPr lang="en-US" sz="3600" dirty="0" err="1" smtClean="0">
                <a:solidFill>
                  <a:srgbClr val="FF0000"/>
                </a:solidFill>
                <a:latin typeface="Copperplate Gothic Bold" pitchFamily="34" charset="0"/>
              </a:rPr>
              <a:t>haitanya</a:t>
            </a:r>
            <a:endParaRPr lang="en-US" sz="3600" dirty="0">
              <a:solidFill>
                <a:srgbClr val="FF0000"/>
              </a:solidFill>
              <a:latin typeface="Copperplate Gothic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/>
          <p:cNvSpPr/>
          <p:nvPr/>
        </p:nvSpPr>
        <p:spPr>
          <a:xfrm>
            <a:off x="228600" y="1468397"/>
            <a:ext cx="8534400" cy="1569660"/>
          </a:xfrm>
          <a:prstGeom prst="rect">
            <a:avLst/>
          </a:prstGeom>
          <a:scene3d>
            <a:camera prst="orthographicFront"/>
            <a:lightRig rig="flood" dir="t"/>
          </a:scene3d>
          <a:sp3d prstMaterial="softEdge">
            <a:bevelT w="317500" h="317500" prst="coolSlant"/>
          </a:sp3d>
        </p:spPr>
        <p:txBody>
          <a:bodyPr wrap="square" anchor="ctr" anchorCtr="0">
            <a:spAutoFit/>
            <a:sp3d>
              <a:bevelT w="762000" h="762000"/>
            </a:sp3d>
          </a:bodyPr>
          <a:lstStyle/>
          <a:p>
            <a:pPr algn="ctr"/>
            <a:endParaRPr lang="en-US" sz="2400" b="1" dirty="0" smtClean="0">
              <a:solidFill>
                <a:srgbClr val="FFFF00"/>
              </a:solidFill>
              <a:latin typeface="Copperplate Gothic Bold" pitchFamily="34" charset="0"/>
            </a:endParaRPr>
          </a:p>
          <a:p>
            <a:pPr algn="ctr"/>
            <a:r>
              <a:rPr lang="en-US" sz="2400" b="1" dirty="0" smtClean="0">
                <a:solidFill>
                  <a:srgbClr val="FFFF00"/>
                </a:solidFill>
                <a:latin typeface="Copperplate Gothic Bold" pitchFamily="34" charset="0"/>
              </a:rPr>
              <a:t>World </a:t>
            </a:r>
            <a:r>
              <a:rPr lang="en-US" sz="2400" b="1" dirty="0">
                <a:solidFill>
                  <a:srgbClr val="FFFF00"/>
                </a:solidFill>
                <a:latin typeface="Copperplate Gothic Bold" pitchFamily="34" charset="0"/>
              </a:rPr>
              <a:t>War II (WWII or WW2), also known as the Second World War, was a </a:t>
            </a:r>
            <a:r>
              <a:rPr lang="en-US" sz="2400" b="1" u="sng" dirty="0">
                <a:solidFill>
                  <a:srgbClr val="FFFF00"/>
                </a:solidFill>
                <a:latin typeface="Copperplate Gothic Bold" pitchFamily="34" charset="0"/>
              </a:rPr>
              <a:t>global war</a:t>
            </a:r>
            <a:r>
              <a:rPr lang="en-US" sz="2400" b="1" dirty="0">
                <a:solidFill>
                  <a:srgbClr val="FFFF00"/>
                </a:solidFill>
                <a:latin typeface="Copperplate Gothic Bold" pitchFamily="34" charset="0"/>
              </a:rPr>
              <a:t> that lasted from 1939 to 1945. </a:t>
            </a:r>
          </a:p>
        </p:txBody>
      </p:sp>
      <p:sp useBgFill="1">
        <p:nvSpPr>
          <p:cNvPr id="19" name="TextBox 18"/>
          <p:cNvSpPr txBox="1"/>
          <p:nvPr/>
        </p:nvSpPr>
        <p:spPr>
          <a:xfrm>
            <a:off x="5410200" y="2637472"/>
            <a:ext cx="2819400" cy="1477328"/>
          </a:xfrm>
          <a:prstGeom prst="rect">
            <a:avLst/>
          </a:prstGeom>
          <a:effectLst>
            <a:outerShdw blurRad="165100" dist="76200" dir="2400000" sx="107000" sy="107000" algn="ctr" rotWithShape="0">
              <a:schemeClr val="tx1"/>
            </a:outerShdw>
          </a:effectLst>
          <a:scene3d>
            <a:camera prst="orthographicFront"/>
            <a:lightRig rig="flood" dir="t"/>
          </a:scene3d>
          <a:sp3d/>
        </p:spPr>
        <p:txBody>
          <a:bodyPr wrap="square" rtlCol="0">
            <a:spAutoFit/>
            <a:sp3d>
              <a:bevelT w="762000" h="762000"/>
            </a:sp3d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Copperplate Gothic Light" pitchFamily="34" charset="0"/>
              </a:rPr>
              <a:t> it 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  <a:latin typeface="Copperplate Gothic Light" pitchFamily="34" charset="0"/>
              </a:rPr>
              <a:t>is a war affecting most of the world's most powerful and populous countries.</a:t>
            </a:r>
            <a:endParaRPr lang="en-US" b="1" dirty="0">
              <a:solidFill>
                <a:srgbClr val="FF0000"/>
              </a:solidFill>
              <a:latin typeface="Copperplate Gothic Light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95400" y="457200"/>
            <a:ext cx="6629400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762000" h="762000"/>
            </a:sp3d>
          </a:bodyPr>
          <a:lstStyle/>
          <a:p>
            <a:r>
              <a:rPr lang="en-US" sz="5400" dirty="0" smtClean="0">
                <a:solidFill>
                  <a:srgbClr val="FF0000"/>
                </a:solidFill>
                <a:latin typeface="Copperplate Gothic Bold" pitchFamily="34" charset="0"/>
              </a:rPr>
              <a:t>INTRODUCTION</a:t>
            </a:r>
            <a:endParaRPr lang="en-US" sz="4800" dirty="0">
              <a:solidFill>
                <a:srgbClr val="FF0000"/>
              </a:solidFill>
              <a:latin typeface="Copperplate Gothic Bold" pitchFamily="34" charset="0"/>
            </a:endParaRPr>
          </a:p>
        </p:txBody>
      </p:sp>
    </p:spTree>
  </p:cSld>
  <p:clrMapOvr>
    <a:masterClrMapping/>
  </p:clrMapOvr>
  <p:transition spd="slow">
    <p:fade thruBlk="1"/>
    <p:sndAc>
      <p:stSnd>
        <p:snd r:embed="rId2" name="wind.wav" builtIn="1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 animBg="1"/>
      <p:bldP spid="19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4" name="Picture 6" descr="File:Bundesarchiv Bild 146-1969-065-24, Münchener Abkommen, Ankunft Mussolini.jpg"/>
          <p:cNvPicPr>
            <a:picLocks noChangeAspect="1" noChangeArrowheads="1"/>
          </p:cNvPicPr>
          <p:nvPr/>
        </p:nvPicPr>
        <p:blipFill>
          <a:blip r:embed="rId2"/>
          <a:srcRect l="13433" r="4478"/>
          <a:stretch>
            <a:fillRect/>
          </a:stretch>
        </p:blipFill>
        <p:spPr bwMode="auto">
          <a:xfrm>
            <a:off x="4876800" y="3276600"/>
            <a:ext cx="4191000" cy="33528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317500" h="317500" prst="coolSlant"/>
          </a:sp3d>
        </p:spPr>
      </p:pic>
      <p:pic>
        <p:nvPicPr>
          <p:cNvPr id="12292" name="Picture 4" descr="Allied Leaders at Yalt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" y="3282948"/>
            <a:ext cx="4724400" cy="334645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317500" h="317500" prst="coolSlant"/>
          </a:sp3d>
        </p:spPr>
      </p:pic>
      <p:sp useBgFill="1">
        <p:nvSpPr>
          <p:cNvPr id="4" name="Rectangle 3"/>
          <p:cNvSpPr/>
          <p:nvPr/>
        </p:nvSpPr>
        <p:spPr>
          <a:xfrm>
            <a:off x="152400" y="808672"/>
            <a:ext cx="8915400" cy="2308324"/>
          </a:xfrm>
          <a:prstGeom prst="rect">
            <a:avLst/>
          </a:prstGeom>
          <a:scene3d>
            <a:camera prst="orthographicFront"/>
            <a:lightRig rig="flood" dir="t"/>
          </a:scene3d>
          <a:sp3d prstMaterial="softEdge">
            <a:bevelT w="317500" h="317500" prst="coolSlant"/>
          </a:sp3d>
        </p:spPr>
        <p:txBody>
          <a:bodyPr wrap="square" anchor="ctr" anchorCtr="0">
            <a:spAutoFit/>
            <a:sp3d>
              <a:bevelT w="762000" h="762000"/>
            </a:sp3d>
          </a:bodyPr>
          <a:lstStyle/>
          <a:p>
            <a:pPr algn="ctr"/>
            <a:endParaRPr lang="en-US" sz="2400" b="1" dirty="0" smtClean="0">
              <a:solidFill>
                <a:srgbClr val="FFFF00"/>
              </a:solidFill>
              <a:latin typeface="Copperplate Gothic Bold" pitchFamily="34" charset="0"/>
            </a:endParaRPr>
          </a:p>
          <a:p>
            <a:pPr algn="ctr"/>
            <a:r>
              <a:rPr lang="en-US" sz="2400" b="1" dirty="0" smtClean="0">
                <a:solidFill>
                  <a:srgbClr val="FFFF00"/>
                </a:solidFill>
                <a:latin typeface="Copperplate Gothic Bold" pitchFamily="34" charset="0"/>
              </a:rPr>
              <a:t>It involved the vast majority of the world's nations—including all of the great powers—eventually forming two opposing military alliances: the </a:t>
            </a:r>
            <a:r>
              <a:rPr lang="en-US" sz="2400" b="1" u="sng" dirty="0" smtClean="0">
                <a:solidFill>
                  <a:srgbClr val="FFFF00"/>
                </a:solidFill>
                <a:latin typeface="Copperplate Gothic Bold" pitchFamily="34" charset="0"/>
              </a:rPr>
              <a:t>Allies</a:t>
            </a:r>
            <a:r>
              <a:rPr lang="en-US" sz="2400" b="1" dirty="0" smtClean="0">
                <a:solidFill>
                  <a:srgbClr val="FFFF00"/>
                </a:solidFill>
                <a:latin typeface="Copperplate Gothic Bold" pitchFamily="34" charset="0"/>
              </a:rPr>
              <a:t> and the </a:t>
            </a:r>
            <a:r>
              <a:rPr lang="en-US" sz="2400" b="1" u="sng" dirty="0" smtClean="0">
                <a:solidFill>
                  <a:srgbClr val="FFFF00"/>
                </a:solidFill>
                <a:latin typeface="Copperplate Gothic Bold" pitchFamily="34" charset="0"/>
              </a:rPr>
              <a:t>Axis</a:t>
            </a:r>
            <a:r>
              <a:rPr lang="en-US" sz="2400" b="1" dirty="0" smtClean="0">
                <a:solidFill>
                  <a:srgbClr val="FFFF00"/>
                </a:solidFill>
                <a:latin typeface="Copperplate Gothic Bold" pitchFamily="34" charset="0"/>
              </a:rPr>
              <a:t>.</a:t>
            </a:r>
          </a:p>
          <a:p>
            <a:endParaRPr lang="en-US" sz="2400" b="1" dirty="0">
              <a:solidFill>
                <a:srgbClr val="FFFF00"/>
              </a:solidFill>
              <a:latin typeface="Copperplate Gothic Bold" pitchFamily="34" charset="0"/>
            </a:endParaRPr>
          </a:p>
        </p:txBody>
      </p:sp>
      <p:sp useBgFill="1">
        <p:nvSpPr>
          <p:cNvPr id="15" name="TextBox 14"/>
          <p:cNvSpPr txBox="1"/>
          <p:nvPr/>
        </p:nvSpPr>
        <p:spPr>
          <a:xfrm>
            <a:off x="4038600" y="2713672"/>
            <a:ext cx="1447800" cy="1477328"/>
          </a:xfrm>
          <a:prstGeom prst="rect">
            <a:avLst/>
          </a:prstGeom>
          <a:effectLst>
            <a:outerShdw blurRad="165100" dist="76200" dir="2400000" sx="107000" sy="107000" algn="ctr" rotWithShape="0">
              <a:schemeClr val="tx1"/>
            </a:outerShdw>
          </a:effectLst>
          <a:scene3d>
            <a:camera prst="orthographicFront"/>
            <a:lightRig rig="flood" dir="t"/>
          </a:scene3d>
          <a:sp3d/>
        </p:spPr>
        <p:txBody>
          <a:bodyPr wrap="square" rtlCol="0">
            <a:spAutoFit/>
            <a:sp3d>
              <a:bevelT w="762000" h="762000"/>
            </a:sp3d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  <a:latin typeface="Copperplate Gothic Light" pitchFamily="34" charset="0"/>
              </a:rPr>
              <a:t> France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  <a:latin typeface="Copperplate Gothic Light" pitchFamily="34" charset="0"/>
              </a:rPr>
              <a:t> Poland 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  <a:latin typeface="Copperplate Gothic Light" pitchFamily="34" charset="0"/>
              </a:rPr>
              <a:t> United Kingdom</a:t>
            </a: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rgbClr val="FF0000"/>
              </a:solidFill>
              <a:latin typeface="Copperplate Gothic Light" pitchFamily="34" charset="0"/>
            </a:endParaRPr>
          </a:p>
        </p:txBody>
      </p:sp>
      <p:sp useBgFill="1">
        <p:nvSpPr>
          <p:cNvPr id="17" name="TextBox 16"/>
          <p:cNvSpPr txBox="1"/>
          <p:nvPr/>
        </p:nvSpPr>
        <p:spPr>
          <a:xfrm>
            <a:off x="6400800" y="2713672"/>
            <a:ext cx="1447800" cy="923330"/>
          </a:xfrm>
          <a:prstGeom prst="rect">
            <a:avLst/>
          </a:prstGeom>
          <a:effectLst>
            <a:outerShdw blurRad="165100" dist="76200" dir="2400000" sx="107000" sy="107000" algn="ctr" rotWithShape="0">
              <a:schemeClr val="tx1"/>
            </a:outerShdw>
          </a:effectLst>
          <a:scene3d>
            <a:camera prst="orthographicFront"/>
            <a:lightRig rig="flood" dir="t"/>
          </a:scene3d>
          <a:sp3d/>
        </p:spPr>
        <p:txBody>
          <a:bodyPr wrap="square" rtlCol="0">
            <a:spAutoFit/>
            <a:sp3d>
              <a:bevelT w="762000" h="762000"/>
            </a:sp3d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  <a:latin typeface="Copperplate Gothic Light" pitchFamily="34" charset="0"/>
              </a:rPr>
              <a:t>German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  <a:latin typeface="Copperplate Gothic Light" pitchFamily="34" charset="0"/>
              </a:rPr>
              <a:t>Italian 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  <a:latin typeface="Copperplate Gothic Light" pitchFamily="34" charset="0"/>
              </a:rPr>
              <a:t>Japanese</a:t>
            </a:r>
            <a:endParaRPr lang="en-US" b="1" dirty="0">
              <a:solidFill>
                <a:srgbClr val="FF0000"/>
              </a:solidFill>
              <a:latin typeface="Copperplate Gothic Light" pitchFamily="34" charset="0"/>
            </a:endParaRPr>
          </a:p>
        </p:txBody>
      </p:sp>
      <p:sp useBgFill="1">
        <p:nvSpPr>
          <p:cNvPr id="22" name="Rectangle 21"/>
          <p:cNvSpPr/>
          <p:nvPr/>
        </p:nvSpPr>
        <p:spPr>
          <a:xfrm>
            <a:off x="3124200" y="5486400"/>
            <a:ext cx="1600200" cy="646331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  <a:scene3d>
            <a:camera prst="orthographicFront"/>
            <a:lightRig rig="flood" dir="t"/>
          </a:scene3d>
          <a:sp3d>
            <a:bevelT/>
          </a:sp3d>
        </p:spPr>
        <p:txBody>
          <a:bodyPr wrap="square">
            <a:spAutoFit/>
            <a:scene3d>
              <a:camera prst="orthographicFront"/>
              <a:lightRig rig="flood" dir="t"/>
            </a:scene3d>
            <a:sp3d>
              <a:bevelT w="762000" h="762000"/>
            </a:sp3d>
          </a:bodyPr>
          <a:lstStyle/>
          <a:p>
            <a:r>
              <a:rPr lang="en-US" b="1" dirty="0" smtClean="0">
                <a:solidFill>
                  <a:srgbClr val="FFFF00"/>
                </a:solidFill>
                <a:latin typeface="Copperplate Gothic Bold" pitchFamily="34" charset="0"/>
              </a:rPr>
              <a:t>President Roosevelt</a:t>
            </a:r>
            <a:endParaRPr lang="en-US" b="1" dirty="0">
              <a:solidFill>
                <a:srgbClr val="FFFF00"/>
              </a:solidFill>
              <a:latin typeface="Copperplate Gothic Bold" pitchFamily="34" charset="0"/>
            </a:endParaRPr>
          </a:p>
        </p:txBody>
      </p:sp>
      <p:sp useBgFill="1">
        <p:nvSpPr>
          <p:cNvPr id="25" name="Rectangle 24"/>
          <p:cNvSpPr/>
          <p:nvPr/>
        </p:nvSpPr>
        <p:spPr>
          <a:xfrm>
            <a:off x="1905000" y="5486400"/>
            <a:ext cx="1143000" cy="646331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  <a:scene3d>
            <a:camera prst="orthographicFront"/>
            <a:lightRig rig="flood" dir="t"/>
          </a:scene3d>
          <a:sp3d>
            <a:bevelT/>
          </a:sp3d>
        </p:spPr>
        <p:txBody>
          <a:bodyPr wrap="square">
            <a:spAutoFit/>
            <a:scene3d>
              <a:camera prst="orthographicFront"/>
              <a:lightRig rig="flood" dir="t"/>
            </a:scene3d>
            <a:sp3d>
              <a:bevelT w="762000" h="762000"/>
            </a:sp3d>
          </a:bodyPr>
          <a:lstStyle/>
          <a:p>
            <a:r>
              <a:rPr lang="en-US" b="1" dirty="0" smtClean="0">
                <a:solidFill>
                  <a:srgbClr val="FFFF00"/>
                </a:solidFill>
                <a:latin typeface="Copperplate Gothic Bold" pitchFamily="34" charset="0"/>
              </a:rPr>
              <a:t>Joseph </a:t>
            </a:r>
            <a:r>
              <a:rPr lang="en-US" b="1" dirty="0">
                <a:solidFill>
                  <a:srgbClr val="FFFF00"/>
                </a:solidFill>
                <a:latin typeface="Copperplate Gothic Bold" pitchFamily="34" charset="0"/>
              </a:rPr>
              <a:t>Stalin</a:t>
            </a:r>
          </a:p>
        </p:txBody>
      </p:sp>
      <p:sp useBgFill="1">
        <p:nvSpPr>
          <p:cNvPr id="26" name="Rectangle 25"/>
          <p:cNvSpPr/>
          <p:nvPr/>
        </p:nvSpPr>
        <p:spPr>
          <a:xfrm>
            <a:off x="228600" y="5486400"/>
            <a:ext cx="1600200" cy="646331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  <a:scene3d>
            <a:camera prst="orthographicFront"/>
            <a:lightRig rig="flood" dir="t"/>
          </a:scene3d>
          <a:sp3d>
            <a:bevelT/>
          </a:sp3d>
        </p:spPr>
        <p:txBody>
          <a:bodyPr wrap="square">
            <a:spAutoFit/>
            <a:scene3d>
              <a:camera prst="orthographicFront"/>
              <a:lightRig rig="flood" dir="t"/>
            </a:scene3d>
            <a:sp3d>
              <a:bevelT w="762000" h="762000"/>
            </a:sp3d>
          </a:bodyPr>
          <a:lstStyle/>
          <a:p>
            <a:r>
              <a:rPr lang="en-US" b="1" dirty="0">
                <a:solidFill>
                  <a:srgbClr val="FFFF00"/>
                </a:solidFill>
                <a:latin typeface="Copperplate Gothic Bold" pitchFamily="34" charset="0"/>
              </a:rPr>
              <a:t>Winston </a:t>
            </a:r>
            <a:r>
              <a:rPr lang="en-US" b="1" dirty="0" smtClean="0">
                <a:solidFill>
                  <a:srgbClr val="FFFF00"/>
                </a:solidFill>
                <a:latin typeface="Copperplate Gothic Bold" pitchFamily="34" charset="0"/>
              </a:rPr>
              <a:t>Churchill</a:t>
            </a:r>
            <a:endParaRPr lang="en-US" b="1" dirty="0">
              <a:solidFill>
                <a:srgbClr val="FFFF00"/>
              </a:solidFill>
              <a:latin typeface="Copperplate Gothic Bold" pitchFamily="34" charset="0"/>
            </a:endParaRPr>
          </a:p>
        </p:txBody>
      </p:sp>
      <p:sp useBgFill="1">
        <p:nvSpPr>
          <p:cNvPr id="28" name="Rectangle 27"/>
          <p:cNvSpPr/>
          <p:nvPr/>
        </p:nvSpPr>
        <p:spPr>
          <a:xfrm>
            <a:off x="5257800" y="5486400"/>
            <a:ext cx="1447800" cy="923330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  <a:scene3d>
            <a:camera prst="orthographicFront"/>
            <a:lightRig rig="flood" dir="t"/>
          </a:scene3d>
          <a:sp3d>
            <a:bevelT/>
          </a:sp3d>
        </p:spPr>
        <p:txBody>
          <a:bodyPr wrap="square">
            <a:spAutoFit/>
            <a:scene3d>
              <a:camera prst="orthographicFront"/>
              <a:lightRig rig="flood" dir="t"/>
            </a:scene3d>
            <a:sp3d>
              <a:bevelT w="762000" h="762000"/>
            </a:sp3d>
          </a:bodyPr>
          <a:lstStyle/>
          <a:p>
            <a:r>
              <a:rPr lang="en-US" dirty="0" smtClean="0">
                <a:solidFill>
                  <a:srgbClr val="FFFF00"/>
                </a:solidFill>
                <a:latin typeface="Copperplate Gothic Bold" pitchFamily="34" charset="0"/>
              </a:rPr>
              <a:t>Duce Benito </a:t>
            </a:r>
            <a:r>
              <a:rPr lang="en-US" dirty="0">
                <a:solidFill>
                  <a:srgbClr val="FFFF00"/>
                </a:solidFill>
                <a:latin typeface="Copperplate Gothic Bold" pitchFamily="34" charset="0"/>
              </a:rPr>
              <a:t>Mussolini</a:t>
            </a:r>
            <a:endParaRPr lang="en-US" b="1" dirty="0">
              <a:solidFill>
                <a:srgbClr val="FFFF00"/>
              </a:solidFill>
              <a:latin typeface="Copperplate Gothic Bold" pitchFamily="34" charset="0"/>
            </a:endParaRPr>
          </a:p>
        </p:txBody>
      </p:sp>
      <p:sp useBgFill="1">
        <p:nvSpPr>
          <p:cNvPr id="29" name="Rectangle 28"/>
          <p:cNvSpPr/>
          <p:nvPr/>
        </p:nvSpPr>
        <p:spPr>
          <a:xfrm>
            <a:off x="6781800" y="5486400"/>
            <a:ext cx="1219200" cy="923330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  <a:scene3d>
            <a:camera prst="orthographicFront"/>
            <a:lightRig rig="flood" dir="t"/>
          </a:scene3d>
          <a:sp3d>
            <a:bevelT/>
          </a:sp3d>
        </p:spPr>
        <p:txBody>
          <a:bodyPr wrap="square">
            <a:spAutoFit/>
            <a:scene3d>
              <a:camera prst="orthographicFront"/>
              <a:lightRig rig="flood" dir="t"/>
            </a:scene3d>
            <a:sp3d>
              <a:bevelT w="762000" h="762000"/>
            </a:sp3d>
          </a:bodyPr>
          <a:lstStyle/>
          <a:p>
            <a:r>
              <a:rPr lang="en-US" dirty="0" err="1" smtClean="0">
                <a:solidFill>
                  <a:srgbClr val="FFFF00"/>
                </a:solidFill>
                <a:latin typeface="Copperplate Gothic Bold" pitchFamily="34" charset="0"/>
              </a:rPr>
              <a:t>FührerAdolf</a:t>
            </a:r>
            <a:r>
              <a:rPr lang="en-US" dirty="0" smtClean="0">
                <a:solidFill>
                  <a:srgbClr val="FFFF00"/>
                </a:solidFill>
                <a:latin typeface="Copperplate Gothic Bold" pitchFamily="34" charset="0"/>
              </a:rPr>
              <a:t> Hitler</a:t>
            </a:r>
            <a:endParaRPr lang="en-US" b="1" dirty="0">
              <a:solidFill>
                <a:srgbClr val="FFFF00"/>
              </a:solidFill>
              <a:latin typeface="Copperplate Gothic Bold" pitchFamily="34" charset="0"/>
            </a:endParaRPr>
          </a:p>
        </p:txBody>
      </p:sp>
      <p:sp useBgFill="1">
        <p:nvSpPr>
          <p:cNvPr id="12" name="TextBox 11"/>
          <p:cNvSpPr txBox="1"/>
          <p:nvPr/>
        </p:nvSpPr>
        <p:spPr>
          <a:xfrm>
            <a:off x="228600" y="152400"/>
            <a:ext cx="8763000" cy="52322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254000" h="254000" prst="coolSlant"/>
          </a:sp3d>
        </p:spPr>
        <p:txBody>
          <a:bodyPr wrap="square" rtlCol="0">
            <a:spAutoFit/>
            <a:sp3d>
              <a:bevelT w="762000" h="762000"/>
            </a:sp3d>
          </a:bodyPr>
          <a:lstStyle/>
          <a:p>
            <a:pPr algn="ctr"/>
            <a:r>
              <a:rPr lang="en-US" sz="2800" dirty="0" smtClean="0">
                <a:solidFill>
                  <a:srgbClr val="FF0000"/>
                </a:solidFill>
                <a:latin typeface="Copperplate Gothic Bold" pitchFamily="34" charset="0"/>
              </a:rPr>
              <a:t>INTRODUCTION</a:t>
            </a:r>
            <a:endParaRPr lang="en-US" sz="2400" dirty="0">
              <a:solidFill>
                <a:srgbClr val="FF0000"/>
              </a:solidFill>
              <a:latin typeface="Copperplate Gothic Bold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" grpId="0" animBg="1"/>
      <p:bldP spid="15" grpId="1" animBg="1"/>
      <p:bldP spid="17" grpId="0" animBg="1"/>
      <p:bldP spid="17" grpId="1" animBg="1"/>
      <p:bldP spid="22" grpId="0" animBg="1"/>
      <p:bldP spid="25" grpId="0" animBg="1"/>
      <p:bldP spid="26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My Documents\Images\World War 2\W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3352800"/>
            <a:ext cx="6248400" cy="3296828"/>
          </a:xfrm>
          <a:prstGeom prst="rect">
            <a:avLst/>
          </a:prstGeom>
          <a:noFill/>
        </p:spPr>
      </p:pic>
      <p:sp useBgFill="1">
        <p:nvSpPr>
          <p:cNvPr id="2" name="Rectangle 1"/>
          <p:cNvSpPr/>
          <p:nvPr/>
        </p:nvSpPr>
        <p:spPr>
          <a:xfrm>
            <a:off x="457200" y="1371600"/>
            <a:ext cx="8077200" cy="1569660"/>
          </a:xfrm>
          <a:prstGeom prst="rect">
            <a:avLst/>
          </a:prstGeom>
          <a:effectLst>
            <a:outerShdw blurRad="165100" dist="50800" dir="2400000" sx="106000" sy="106000" algn="ctr" rotWithShape="0">
              <a:schemeClr val="tx1"/>
            </a:outerShdw>
          </a:effectLst>
          <a:scene3d>
            <a:camera prst="orthographicFront"/>
            <a:lightRig rig="flood" dir="t"/>
          </a:scene3d>
          <a:sp3d>
            <a:bevelT w="317500" h="317500" prst="coolSlant"/>
          </a:sp3d>
        </p:spPr>
        <p:txBody>
          <a:bodyPr wrap="square">
            <a:spAutoFit/>
            <a:sp3d>
              <a:bevelT w="762000" h="762000"/>
            </a:sp3d>
          </a:bodyPr>
          <a:lstStyle/>
          <a:p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It was the most widespread war in history, with more than 100 million people serving in military units from over 30 different countries. In a state of "</a:t>
            </a:r>
            <a:r>
              <a:rPr lang="en-US" sz="2400" u="sng" dirty="0">
                <a:solidFill>
                  <a:srgbClr val="FFFF00"/>
                </a:solidFill>
                <a:latin typeface="Copperplate Gothic Bold" pitchFamily="34" charset="0"/>
              </a:rPr>
              <a:t>total war</a:t>
            </a: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"</a:t>
            </a:r>
          </a:p>
        </p:txBody>
      </p:sp>
      <p:sp useBgFill="1">
        <p:nvSpPr>
          <p:cNvPr id="3" name="Rectangle 2"/>
          <p:cNvSpPr/>
          <p:nvPr/>
        </p:nvSpPr>
        <p:spPr>
          <a:xfrm>
            <a:off x="3733800" y="2895600"/>
            <a:ext cx="4191000" cy="1477328"/>
          </a:xfrm>
          <a:prstGeom prst="rect">
            <a:avLst/>
          </a:prstGeom>
          <a:effectLst>
            <a:outerShdw blurRad="165100" dist="50800" dir="2400000" sx="106000" sy="106000" algn="ctr" rotWithShape="0">
              <a:schemeClr val="tx1"/>
            </a:outerShdw>
          </a:effectLst>
          <a:scene3d>
            <a:camera prst="orthographicFront"/>
            <a:lightRig rig="flood" dir="t"/>
          </a:scene3d>
          <a:sp3d prstMaterial="softEdge"/>
        </p:spPr>
        <p:txBody>
          <a:bodyPr wrap="square">
            <a:spAutoFit/>
            <a:sp3d>
              <a:bevelT w="762000" h="762000"/>
            </a:sp3d>
          </a:bodyPr>
          <a:lstStyle/>
          <a:p>
            <a:r>
              <a:rPr lang="en-US" b="1" dirty="0">
                <a:solidFill>
                  <a:srgbClr val="FF0000"/>
                </a:solidFill>
                <a:latin typeface="Copperplate Gothic Bold" pitchFamily="34" charset="0"/>
              </a:rPr>
              <a:t>Total war</a:t>
            </a:r>
            <a:r>
              <a:rPr lang="en-US" dirty="0">
                <a:solidFill>
                  <a:srgbClr val="FF0000"/>
                </a:solidFill>
                <a:latin typeface="Copperplate Gothic Bold" pitchFamily="34" charset="0"/>
              </a:rPr>
              <a:t> is a </a:t>
            </a:r>
            <a:r>
              <a:rPr lang="en-US" dirty="0" smtClean="0">
                <a:solidFill>
                  <a:srgbClr val="FF0000"/>
                </a:solidFill>
                <a:latin typeface="Copperplate Gothic Bold" pitchFamily="34" charset="0"/>
              </a:rPr>
              <a:t>war</a:t>
            </a:r>
            <a:r>
              <a:rPr lang="en-US" dirty="0">
                <a:solidFill>
                  <a:srgbClr val="FF0000"/>
                </a:solidFill>
                <a:latin typeface="Copperplate Gothic Bold" pitchFamily="34" charset="0"/>
              </a:rPr>
              <a:t> in which a belligerent engages in the complete mobilization of </a:t>
            </a:r>
            <a:r>
              <a:rPr lang="en-US" dirty="0" smtClean="0">
                <a:solidFill>
                  <a:srgbClr val="FF0000"/>
                </a:solidFill>
                <a:latin typeface="Copperplate Gothic Bold" pitchFamily="34" charset="0"/>
              </a:rPr>
              <a:t>fully   available</a:t>
            </a:r>
            <a:r>
              <a:rPr lang="en-US" dirty="0">
                <a:solidFill>
                  <a:srgbClr val="FF0000"/>
                </a:solidFill>
                <a:latin typeface="Copperplate Gothic Bold" pitchFamily="34" charset="0"/>
              </a:rPr>
              <a:t> resources and population.</a:t>
            </a:r>
          </a:p>
        </p:txBody>
      </p:sp>
      <p:sp useBgFill="1">
        <p:nvSpPr>
          <p:cNvPr id="4" name="TextBox 3"/>
          <p:cNvSpPr txBox="1"/>
          <p:nvPr/>
        </p:nvSpPr>
        <p:spPr>
          <a:xfrm>
            <a:off x="228600" y="152400"/>
            <a:ext cx="8763000" cy="52322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254000" h="254000" prst="coolSlant"/>
          </a:sp3d>
        </p:spPr>
        <p:txBody>
          <a:bodyPr wrap="square" rtlCol="0">
            <a:spAutoFit/>
            <a:sp3d>
              <a:bevelT w="762000" h="762000"/>
            </a:sp3d>
          </a:bodyPr>
          <a:lstStyle/>
          <a:p>
            <a:pPr algn="ctr"/>
            <a:r>
              <a:rPr lang="en-US" sz="2800" dirty="0" smtClean="0">
                <a:solidFill>
                  <a:srgbClr val="FF0000"/>
                </a:solidFill>
                <a:latin typeface="Copperplate Gothic Bold" pitchFamily="34" charset="0"/>
              </a:rPr>
              <a:t>INTRODUCTION</a:t>
            </a:r>
            <a:endParaRPr lang="en-US" sz="2400" dirty="0">
              <a:solidFill>
                <a:srgbClr val="FF0000"/>
              </a:solidFill>
              <a:latin typeface="Copperplate Gothic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65</Words>
  <Application>Microsoft Office PowerPoint</Application>
  <PresentationFormat>On-screen Show (4:3)</PresentationFormat>
  <Paragraphs>29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smt</dc:creator>
  <cp:lastModifiedBy>smt</cp:lastModifiedBy>
  <cp:revision>24</cp:revision>
  <dcterms:created xsi:type="dcterms:W3CDTF">2013-07-27T09:52:05Z</dcterms:created>
  <dcterms:modified xsi:type="dcterms:W3CDTF">2013-08-11T11:46:41Z</dcterms:modified>
</cp:coreProperties>
</file>